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DM Sans Light" panose="020B0604020202020204" charset="0"/>
      <p:regular r:id="rId16"/>
    </p:embeddedFont>
    <p:embeddedFont>
      <p:font typeface="Manrope" panose="020B0604020202020204" charset="0"/>
      <p:regular r:id="rId17"/>
    </p:embeddedFont>
    <p:embeddedFont>
      <p:font typeface="Manrope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786309"/>
            <a:ext cx="1193969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842963"/>
            <a:ext cx="15767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DSA PROJECT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149052"/>
            <a:ext cx="6296860" cy="2152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100" kern="0" spc="-154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Resume Search &amp; Candidate Screening System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5233360" y="3584575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Advanced DSA-Based Text Analytics System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4109045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233360" y="4394299"/>
            <a:ext cx="6296860" cy="1677293"/>
          </a:xfrm>
          <a:prstGeom prst="roundRect">
            <a:avLst>
              <a:gd name="adj" fmla="val 10142"/>
            </a:avLst>
          </a:prstGeom>
          <a:solidFill>
            <a:srgbClr val="D4F7F5"/>
          </a:solidFill>
          <a:ln/>
        </p:spPr>
      </p:sp>
      <p:sp>
        <p:nvSpPr>
          <p:cNvPr id="9" name="Text 6"/>
          <p:cNvSpPr/>
          <p:nvPr/>
        </p:nvSpPr>
        <p:spPr>
          <a:xfrm>
            <a:off x="5422367" y="4583311"/>
            <a:ext cx="591884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422367" y="4956572"/>
            <a:ext cx="5918846" cy="92600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2520030061 – L. Ashmitha Reddy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2520030208 – A. Nagajyothi</a:t>
            </a: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2520030397 – K. Harika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BC161A-7D74-9726-B656-5FD7ADB09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748" y="6181967"/>
            <a:ext cx="2191056" cy="638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560586"/>
            <a:ext cx="935411" cy="272752"/>
          </a:xfrm>
          <a:prstGeom prst="roundRect">
            <a:avLst>
              <a:gd name="adj" fmla="val 47401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769125" y="614363"/>
            <a:ext cx="1329696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901502"/>
            <a:ext cx="6296860" cy="49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500" kern="0" spc="-106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Abstract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61475" y="1651198"/>
            <a:ext cx="6296860" cy="735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</a:t>
            </a:r>
            <a:r>
              <a:rPr lang="en-US" sz="14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Java-based text analytics system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that reads, processes, and analyzes resumes stored as plain </a:t>
            </a:r>
            <a:r>
              <a:rPr lang="en-US" sz="14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.txt files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entirely in-memory, with no database or web framework.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78298"/>
            <a:ext cx="3063104" cy="26533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7954" y="2783185"/>
            <a:ext cx="2551743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5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Core Capabilities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67954" y="3132336"/>
            <a:ext cx="2551743" cy="1589683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Pattern searching &amp; fuzzy matching</a:t>
            </a:r>
            <a:endParaRPr lang="en-US" sz="1400" dirty="0"/>
          </a:p>
          <a:p>
            <a:pPr marL="284480" indent="-28448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Resume/document similarity analysis</a:t>
            </a:r>
            <a:endParaRPr lang="en-US" sz="1400" dirty="0"/>
          </a:p>
          <a:p>
            <a:pPr marL="284480" indent="-28448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 screening &amp; job matching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5131" y="2578298"/>
            <a:ext cx="3063203" cy="26533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1611" y="2783185"/>
            <a:ext cx="2551842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5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Technology Stack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4201611" y="3132336"/>
            <a:ext cx="2551842" cy="1894384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Language: </a:t>
            </a:r>
            <a:r>
              <a:rPr lang="en-US" sz="14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Java only</a:t>
            </a:r>
            <a:endParaRPr lang="en-US" sz="1400" dirty="0"/>
          </a:p>
          <a:p>
            <a:pPr marL="284480" indent="-28448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Input: Plain </a:t>
            </a:r>
            <a:r>
              <a:rPr lang="en-US" sz="14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.txt resume files</a:t>
            </a:r>
            <a:endParaRPr lang="en-US" sz="1400" dirty="0"/>
          </a:p>
          <a:p>
            <a:pPr marL="284480" indent="-28448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Interface: </a:t>
            </a:r>
            <a:r>
              <a:rPr lang="en-US" sz="14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Command-line console</a:t>
            </a:r>
            <a:endParaRPr lang="en-US" sz="1400" dirty="0"/>
          </a:p>
          <a:p>
            <a:pPr marL="284480" indent="-28448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database · No full-stack tech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30748" y="5615384"/>
            <a:ext cx="6027587" cy="49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Demonstrates </a:t>
            </a:r>
            <a:r>
              <a:rPr lang="en-US" sz="14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practical applications of advanced DSA concepts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applied to a real-world text-processing problem.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61475" y="5423495"/>
            <a:ext cx="25399" cy="873919"/>
          </a:xfrm>
          <a:prstGeom prst="roundRect">
            <a:avLst>
              <a:gd name="adj" fmla="val 50001"/>
            </a:avLst>
          </a:prstGeom>
          <a:solidFill>
            <a:srgbClr val="28D3C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7784"/>
            <a:ext cx="1785794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44438"/>
            <a:ext cx="21685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50528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kern="0" spc="-112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Challenges in Traditional Resume Screening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066429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65" y="2137321"/>
            <a:ext cx="283461" cy="283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2149078"/>
            <a:ext cx="2435958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Time-Consuming Manual Screening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275723" y="2857798"/>
            <a:ext cx="2435958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Recruiters must individually read and evaluate a large number of resumes, making the process slow and error-prone.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47915" y="2066429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8805" y="2137321"/>
            <a:ext cx="283461" cy="2834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2162" y="2149078"/>
            <a:ext cx="2436057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Exact Keyword Matching Fails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62162" y="2857798"/>
            <a:ext cx="2436057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Simple search misses spelling variations — </a:t>
            </a: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"Pythn"</a:t>
            </a: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will not match </a:t>
            </a: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"Python"</a:t>
            </a: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with naive string comparison.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4082355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65" y="4153247"/>
            <a:ext cx="283461" cy="2834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75723" y="4165005"/>
            <a:ext cx="5722497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Difficult Candidate-Job Assignment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1275723" y="4613870"/>
            <a:ext cx="5722497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Matching multiple candidates to multiple job roles efficiently requires algorithmic approaches beyond manual comparison.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465727" y="2066429"/>
            <a:ext cx="4070744" cy="3891161"/>
          </a:xfrm>
          <a:prstGeom prst="roundRect">
            <a:avLst>
              <a:gd name="adj" fmla="val 4372"/>
            </a:avLst>
          </a:prstGeom>
          <a:solidFill>
            <a:srgbClr val="D4F7F5"/>
          </a:solidFill>
          <a:ln/>
        </p:spPr>
      </p:sp>
      <p:sp>
        <p:nvSpPr>
          <p:cNvPr id="18" name="Text 13"/>
          <p:cNvSpPr/>
          <p:nvPr/>
        </p:nvSpPr>
        <p:spPr>
          <a:xfrm>
            <a:off x="7654734" y="2255441"/>
            <a:ext cx="3692730" cy="266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Example: Fuzzy Mismatch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7654734" y="2710656"/>
            <a:ext cx="3692730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 Query: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654734" y="3134916"/>
            <a:ext cx="3692730" cy="680442"/>
          </a:xfrm>
          <a:prstGeom prst="roundRect">
            <a:avLst>
              <a:gd name="adj" fmla="val 25001"/>
            </a:avLst>
          </a:prstGeom>
          <a:solidFill>
            <a:srgbClr val="F2F2F2"/>
          </a:solidFill>
          <a:ln/>
        </p:spPr>
      </p:sp>
      <p:sp>
        <p:nvSpPr>
          <p:cNvPr id="21" name="Text 16"/>
          <p:cNvSpPr/>
          <p:nvPr/>
        </p:nvSpPr>
        <p:spPr>
          <a:xfrm>
            <a:off x="7881542" y="3323927"/>
            <a:ext cx="323911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"Pythn"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654734" y="4027984"/>
            <a:ext cx="3692730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Resume contains: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654734" y="4452243"/>
            <a:ext cx="3692730" cy="680442"/>
          </a:xfrm>
          <a:prstGeom prst="roundRect">
            <a:avLst>
              <a:gd name="adj" fmla="val 25001"/>
            </a:avLst>
          </a:prstGeom>
          <a:solidFill>
            <a:srgbClr val="F2F2F2"/>
          </a:solidFill>
          <a:ln/>
        </p:spPr>
      </p:sp>
      <p:sp>
        <p:nvSpPr>
          <p:cNvPr id="24" name="Text 19"/>
          <p:cNvSpPr/>
          <p:nvPr/>
        </p:nvSpPr>
        <p:spPr>
          <a:xfrm>
            <a:off x="7881542" y="4641255"/>
            <a:ext cx="323911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7654734" y="5345311"/>
            <a:ext cx="3692730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Exact match → </a:t>
            </a: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FAILS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Fuzzy match (Edit Distance) → </a:t>
            </a: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FINDS IT ✓</a:t>
            </a:r>
            <a:endParaRPr lang="en-US" sz="11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0BDD22-592E-C12F-02E1-67E3AF823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0944" y="6219736"/>
            <a:ext cx="2191056" cy="638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7977"/>
            <a:ext cx="1359362" cy="243979"/>
          </a:xfrm>
          <a:prstGeom prst="roundRect">
            <a:avLst>
              <a:gd name="adj" fmla="val 47414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686098"/>
            <a:ext cx="177626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PROPOSED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36526"/>
            <a:ext cx="10868745" cy="44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50" kern="0" spc="-95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Proposed Java-Based Solution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705868"/>
            <a:ext cx="4675368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reads resume data from </a:t>
            </a:r>
            <a:r>
              <a:rPr lang="en-US" sz="12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.txt files</a:t>
            </a: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processes text using manually implemented algorithms, and delivers results via a </a:t>
            </a:r>
            <a:r>
              <a:rPr lang="en-US" sz="12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Java console interface</a:t>
            </a: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483346"/>
            <a:ext cx="321262" cy="176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38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2713137"/>
            <a:ext cx="2269374" cy="1905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831505"/>
            <a:ext cx="226937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50" kern="0" spc="-47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Resume .txt Files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1475" y="3188891"/>
            <a:ext cx="2269374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 text resumes loaded from the file system into memory.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7370" y="2483346"/>
            <a:ext cx="321262" cy="176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38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67370" y="2713137"/>
            <a:ext cx="2269473" cy="1905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2" name="Text 10"/>
          <p:cNvSpPr/>
          <p:nvPr/>
        </p:nvSpPr>
        <p:spPr>
          <a:xfrm>
            <a:off x="3067370" y="2831505"/>
            <a:ext cx="226947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50" kern="0" spc="-47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Text File Reader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067370" y="3188891"/>
            <a:ext cx="2269473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Java I/O parses and tokenizes resume content.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475" y="3778647"/>
            <a:ext cx="321262" cy="176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38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1475" y="4008438"/>
            <a:ext cx="2269374" cy="1905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4126805"/>
            <a:ext cx="226937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50" kern="0" spc="-47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User Query via Console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1475" y="4484191"/>
            <a:ext cx="2269374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enters a search term or screening criteria.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67370" y="3778647"/>
            <a:ext cx="321262" cy="176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38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067370" y="4008438"/>
            <a:ext cx="2269473" cy="1905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0" name="Text 18"/>
          <p:cNvSpPr/>
          <p:nvPr/>
        </p:nvSpPr>
        <p:spPr>
          <a:xfrm>
            <a:off x="3067370" y="4126805"/>
            <a:ext cx="226947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50" kern="0" spc="-47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Algorithm Selection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067370" y="4484191"/>
            <a:ext cx="2269473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System selects the appropriate DSA algorithm automatically.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1475" y="5073948"/>
            <a:ext cx="321262" cy="176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-38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1475" y="5303738"/>
            <a:ext cx="4675368" cy="1905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422106"/>
            <a:ext cx="467536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50" kern="0" spc="-47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Results Displayed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61475" y="5779492"/>
            <a:ext cx="4675368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 matches, similarity scores, and complexity info printed to console.</a:t>
            </a:r>
            <a:endParaRPr lang="en-US" sz="10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160" y="1736626"/>
            <a:ext cx="4931148" cy="213002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346863" y="3320998"/>
            <a:ext cx="732185" cy="11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800" kern="0" spc="-2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Text Reader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346863" y="3476284"/>
            <a:ext cx="732185" cy="19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Java I/O file parsing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9226925" y="3320998"/>
            <a:ext cx="732185" cy="11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800" kern="0" spc="-25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Matching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226925" y="3476284"/>
            <a:ext cx="732185" cy="19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Search, fuzzy, similarity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6409165" y="1928826"/>
            <a:ext cx="732185" cy="11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800" kern="0" spc="-2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Resume TXT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409165" y="2084113"/>
            <a:ext cx="732185" cy="19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 text resume files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10136694" y="1928826"/>
            <a:ext cx="732185" cy="11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800" kern="0" spc="-2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Console Output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136694" y="2084113"/>
            <a:ext cx="732185" cy="19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Results printed to console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8298563" y="1928826"/>
            <a:ext cx="732185" cy="234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800" kern="0" spc="-25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Algorithm Engine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298563" y="2201467"/>
            <a:ext cx="732185" cy="19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processing logic</a:t>
            </a:r>
            <a:endParaRPr lang="en-US" sz="6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857FE5F-1EF8-D3F1-514B-88D80CE9C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110" y="6155218"/>
            <a:ext cx="2191056" cy="638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6554"/>
            <a:ext cx="789265" cy="154484"/>
          </a:xfrm>
          <a:prstGeom prst="roundRect">
            <a:avLst>
              <a:gd name="adj" fmla="val 47420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22493" y="557014"/>
            <a:ext cx="1276814" cy="93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FUNCTIONALITIES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702866"/>
            <a:ext cx="1086874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kern="0" spc="-6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Key System Functionalities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064816"/>
            <a:ext cx="10868745" cy="61039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271" y="1293713"/>
            <a:ext cx="152595" cy="1525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5828" y="1179215"/>
            <a:ext cx="10279996" cy="13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Resume Text-File Processing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35828" y="1351955"/>
            <a:ext cx="1027999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Reads and parses plain .txt resume files into in-memory data structures.</a:t>
            </a:r>
            <a:endParaRPr lang="en-US" sz="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9978"/>
            <a:ext cx="10868745" cy="61039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271" y="1958876"/>
            <a:ext cx="152595" cy="1525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35828" y="1844377"/>
            <a:ext cx="10279996" cy="13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Keyword &amp; Pattern Search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1135828" y="2017117"/>
            <a:ext cx="1027999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Searches for exact patterns using KMP, Z-Algorithm, and Rabin-Karp.</a:t>
            </a:r>
            <a:endParaRPr lang="en-US" sz="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5141"/>
            <a:ext cx="10868745" cy="61039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271" y="2624038"/>
            <a:ext cx="152595" cy="15259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35828" y="2509540"/>
            <a:ext cx="10279996" cy="13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Multi-Pattern Skill Search</a:t>
            </a:r>
            <a:endParaRPr lang="en-US" sz="1000" dirty="0"/>
          </a:p>
        </p:txBody>
      </p:sp>
      <p:sp>
        <p:nvSpPr>
          <p:cNvPr id="16" name="Text 8"/>
          <p:cNvSpPr/>
          <p:nvPr/>
        </p:nvSpPr>
        <p:spPr>
          <a:xfrm>
            <a:off x="1135828" y="2682280"/>
            <a:ext cx="1027999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Searches for multiple skills simultaneously using the Aho-Corasick automaton.</a:t>
            </a:r>
            <a:endParaRPr lang="en-US" sz="6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60303"/>
            <a:ext cx="10868745" cy="61039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271" y="3289201"/>
            <a:ext cx="152595" cy="15259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135828" y="3174702"/>
            <a:ext cx="10279996" cy="13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Fuzzy Skill Matching</a:t>
            </a:r>
            <a:endParaRPr lang="en-US" sz="1000" dirty="0"/>
          </a:p>
        </p:txBody>
      </p:sp>
      <p:sp>
        <p:nvSpPr>
          <p:cNvPr id="20" name="Text 10"/>
          <p:cNvSpPr/>
          <p:nvPr/>
        </p:nvSpPr>
        <p:spPr>
          <a:xfrm>
            <a:off x="1135828" y="3347442"/>
            <a:ext cx="1027999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Handles spelling variations using Levenshtein Edit Distance via dynamic programming.</a:t>
            </a:r>
            <a:endParaRPr lang="en-US" sz="6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25466"/>
            <a:ext cx="10868745" cy="610394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271" y="3954363"/>
            <a:ext cx="152595" cy="15259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135828" y="3839865"/>
            <a:ext cx="10279996" cy="13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Resume Similarity Analysis</a:t>
            </a:r>
            <a:endParaRPr lang="en-US" sz="1000" dirty="0"/>
          </a:p>
        </p:txBody>
      </p:sp>
      <p:sp>
        <p:nvSpPr>
          <p:cNvPr id="24" name="Text 12"/>
          <p:cNvSpPr/>
          <p:nvPr/>
        </p:nvSpPr>
        <p:spPr>
          <a:xfrm>
            <a:off x="1135828" y="4012605"/>
            <a:ext cx="1027999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Computes document similarity using Suffix Arrays and LCP (Kasai Algorithm).</a:t>
            </a:r>
            <a:endParaRPr lang="en-US" sz="6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90628"/>
            <a:ext cx="10868745" cy="610394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1271" y="4619526"/>
            <a:ext cx="152595" cy="152598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1135828" y="4505027"/>
            <a:ext cx="10279996" cy="13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Candidate Screening</a:t>
            </a:r>
            <a:endParaRPr lang="en-US" sz="1000" dirty="0"/>
          </a:p>
        </p:txBody>
      </p:sp>
      <p:sp>
        <p:nvSpPr>
          <p:cNvPr id="28" name="Text 14"/>
          <p:cNvSpPr/>
          <p:nvPr/>
        </p:nvSpPr>
        <p:spPr>
          <a:xfrm>
            <a:off x="1135828" y="4677767"/>
            <a:ext cx="1027999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Ranks and screens candidates based on skill coverage and relevance scores.</a:t>
            </a:r>
            <a:endParaRPr lang="en-US" sz="6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55791"/>
            <a:ext cx="10868745" cy="610394"/>
          </a:xfrm>
          <a:prstGeom prst="rect">
            <a:avLst/>
          </a:prstGeom>
        </p:spPr>
      </p:pic>
      <p:pic>
        <p:nvPicPr>
          <p:cNvPr id="3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271" y="5284688"/>
            <a:ext cx="152595" cy="152598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1135828" y="5170190"/>
            <a:ext cx="10279996" cy="13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Candidate-Job Matching</a:t>
            </a:r>
            <a:endParaRPr lang="en-US" sz="1000" dirty="0"/>
          </a:p>
        </p:txBody>
      </p:sp>
      <p:sp>
        <p:nvSpPr>
          <p:cNvPr id="32" name="Text 16"/>
          <p:cNvSpPr/>
          <p:nvPr/>
        </p:nvSpPr>
        <p:spPr>
          <a:xfrm>
            <a:off x="1135828" y="5342930"/>
            <a:ext cx="1027999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Applies bipartite graph matching and max-flow algorithms for optimal assignment.</a:t>
            </a:r>
            <a:endParaRPr lang="en-US" sz="600" dirty="0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720953"/>
            <a:ext cx="10868745" cy="610394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271" y="5949851"/>
            <a:ext cx="152595" cy="152598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1135828" y="5835352"/>
            <a:ext cx="10279996" cy="139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kern="0" spc="-3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Complexity Comparison</a:t>
            </a:r>
            <a:endParaRPr lang="en-US" sz="1000" dirty="0"/>
          </a:p>
        </p:txBody>
      </p:sp>
      <p:sp>
        <p:nvSpPr>
          <p:cNvPr id="36" name="Text 18"/>
          <p:cNvSpPr/>
          <p:nvPr/>
        </p:nvSpPr>
        <p:spPr>
          <a:xfrm>
            <a:off x="1135828" y="6008092"/>
            <a:ext cx="1027999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Displays time and space complexity for each algorithm executed by the system.</a:t>
            </a:r>
            <a:endParaRPr lang="en-US" sz="6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E2B08E7-0DB7-EEA8-085F-AD8F2BE95A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7871" y="6353490"/>
            <a:ext cx="1322567" cy="4399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609203"/>
            <a:ext cx="1156862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665857"/>
            <a:ext cx="153963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ALGORITHMS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971947"/>
            <a:ext cx="6296860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kern="0" spc="-112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Algorithms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1775222"/>
            <a:ext cx="1972915" cy="2353866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7" name="Shape 4"/>
          <p:cNvSpPr/>
          <p:nvPr/>
        </p:nvSpPr>
        <p:spPr>
          <a:xfrm>
            <a:off x="5422367" y="1964234"/>
            <a:ext cx="567021" cy="567035"/>
          </a:xfrm>
          <a:prstGeom prst="ellipse">
            <a:avLst/>
          </a:prstGeom>
          <a:solidFill>
            <a:srgbClr val="28D3C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8335" y="2120205"/>
            <a:ext cx="255085" cy="255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22367" y="2720280"/>
            <a:ext cx="1594902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Pattern Search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422367" y="3093541"/>
            <a:ext cx="1594902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Naive · </a:t>
            </a: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KMP</a:t>
            </a: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Z-Algorithm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Rabin-Karp · </a:t>
            </a: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Aho-Corasick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395283" y="1775222"/>
            <a:ext cx="1972915" cy="2353866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7584290" y="1964234"/>
            <a:ext cx="567021" cy="567035"/>
          </a:xfrm>
          <a:prstGeom prst="ellipse">
            <a:avLst/>
          </a:prstGeom>
          <a:solidFill>
            <a:srgbClr val="28D3C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0258" y="2120205"/>
            <a:ext cx="255085" cy="2550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4290" y="2720280"/>
            <a:ext cx="1594902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Fuzzy Matching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7584290" y="3093541"/>
            <a:ext cx="1594902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Levenshtein / Edit Distance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via Dynamic Programming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557205" y="1775222"/>
            <a:ext cx="1972915" cy="2353866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9746212" y="1964234"/>
            <a:ext cx="567021" cy="567035"/>
          </a:xfrm>
          <a:prstGeom prst="ellipse">
            <a:avLst/>
          </a:prstGeom>
          <a:solidFill>
            <a:srgbClr val="28D3C9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2180" y="2120205"/>
            <a:ext cx="255085" cy="2550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46212" y="2720280"/>
            <a:ext cx="159490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Similarity Analysis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9746212" y="3353395"/>
            <a:ext cx="1594902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Suffix Array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LCP / Kasai Algorithm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233360" y="4318099"/>
            <a:ext cx="3053877" cy="1930598"/>
          </a:xfrm>
          <a:prstGeom prst="roundRect">
            <a:avLst>
              <a:gd name="adj" fmla="val 8812"/>
            </a:avLst>
          </a:prstGeom>
          <a:solidFill>
            <a:srgbClr val="D4F7F5"/>
          </a:solidFill>
          <a:ln/>
        </p:spPr>
      </p:sp>
      <p:sp>
        <p:nvSpPr>
          <p:cNvPr id="22" name="Shape 16"/>
          <p:cNvSpPr/>
          <p:nvPr/>
        </p:nvSpPr>
        <p:spPr>
          <a:xfrm>
            <a:off x="5422367" y="4507111"/>
            <a:ext cx="567021" cy="567035"/>
          </a:xfrm>
          <a:prstGeom prst="ellipse">
            <a:avLst/>
          </a:prstGeom>
          <a:solidFill>
            <a:srgbClr val="28D3C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8335" y="4663083"/>
            <a:ext cx="255085" cy="25509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22367" y="5263158"/>
            <a:ext cx="2675863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Candidate Matching</a:t>
            </a:r>
            <a:endParaRPr lang="en-US" sz="1850" dirty="0"/>
          </a:p>
        </p:txBody>
      </p:sp>
      <p:sp>
        <p:nvSpPr>
          <p:cNvPr id="25" name="Text 18"/>
          <p:cNvSpPr/>
          <p:nvPr/>
        </p:nvSpPr>
        <p:spPr>
          <a:xfrm>
            <a:off x="5422367" y="5636419"/>
            <a:ext cx="2675863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Bipartite Graph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 Flow / Network Flow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476244" y="4318099"/>
            <a:ext cx="3053877" cy="1930598"/>
          </a:xfrm>
          <a:prstGeom prst="roundRect">
            <a:avLst>
              <a:gd name="adj" fmla="val 8812"/>
            </a:avLst>
          </a:prstGeom>
          <a:solidFill>
            <a:srgbClr val="D4F7F5"/>
          </a:solidFill>
          <a:ln/>
        </p:spPr>
      </p:sp>
      <p:sp>
        <p:nvSpPr>
          <p:cNvPr id="27" name="Shape 20"/>
          <p:cNvSpPr/>
          <p:nvPr/>
        </p:nvSpPr>
        <p:spPr>
          <a:xfrm>
            <a:off x="8665251" y="4507111"/>
            <a:ext cx="567021" cy="567035"/>
          </a:xfrm>
          <a:prstGeom prst="ellipse">
            <a:avLst/>
          </a:prstGeom>
          <a:solidFill>
            <a:srgbClr val="28D3C9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1219" y="4663083"/>
            <a:ext cx="255085" cy="25509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65251" y="5263158"/>
            <a:ext cx="2675863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Advanced Demos</a:t>
            </a:r>
            <a:endParaRPr lang="en-US" sz="1850" dirty="0"/>
          </a:p>
        </p:txBody>
      </p:sp>
      <p:sp>
        <p:nvSpPr>
          <p:cNvPr id="30" name="Text 22"/>
          <p:cNvSpPr/>
          <p:nvPr/>
        </p:nvSpPr>
        <p:spPr>
          <a:xfrm>
            <a:off x="8665251" y="5636419"/>
            <a:ext cx="2675863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Approximation Algorithms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Miller-Rabin</a:t>
            </a: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Randomized Algos</a:t>
            </a:r>
            <a:endParaRPr lang="en-US" sz="11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2DF067D-526D-2461-FEBC-7F52BAEDF2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0944" y="6197870"/>
            <a:ext cx="2191056" cy="638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3121"/>
            <a:ext cx="1242981" cy="215305"/>
          </a:xfrm>
          <a:prstGeom prst="roundRect">
            <a:avLst>
              <a:gd name="adj" fmla="val 47407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25587"/>
            <a:ext cx="16825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SAMPLE 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40891"/>
            <a:ext cx="10868745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kern="0" spc="-84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System Workflow — Example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61475" y="1609725"/>
            <a:ext cx="5261439" cy="1561604"/>
          </a:xfrm>
          <a:prstGeom prst="roundRect">
            <a:avLst>
              <a:gd name="adj" fmla="val 8170"/>
            </a:avLst>
          </a:prstGeom>
          <a:solidFill>
            <a:srgbClr val="D4F7F5"/>
          </a:solidFill>
          <a:ln/>
        </p:spPr>
      </p:sp>
      <p:sp>
        <p:nvSpPr>
          <p:cNvPr id="6" name="Text 4"/>
          <p:cNvSpPr/>
          <p:nvPr/>
        </p:nvSpPr>
        <p:spPr>
          <a:xfrm>
            <a:off x="803156" y="1751409"/>
            <a:ext cx="4978077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📂</a:t>
            </a: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Input Files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3156" y="2065834"/>
            <a:ext cx="4978077" cy="963811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73212" y="2207518"/>
            <a:ext cx="463796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candidate01.txt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candidate02.txt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candidate03.txt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3290888"/>
            <a:ext cx="587102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Query 1 — Exact Pattern Search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79" y="3584079"/>
            <a:ext cx="3946029" cy="17016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84766" y="4969707"/>
            <a:ext cx="895190" cy="9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00" kern="0" spc="-21" dirty="0">
                <a:solidFill>
                  <a:srgbClr val="000000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Show Matches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584766" y="4575814"/>
            <a:ext cx="895190" cy="9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00" kern="0" spc="-21" dirty="0">
                <a:solidFill>
                  <a:srgbClr val="000000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KMP Search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584766" y="4185900"/>
            <a:ext cx="895190" cy="9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00" kern="0" spc="-21" dirty="0">
                <a:solidFill>
                  <a:srgbClr val="000000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Read .txt Files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584766" y="3792006"/>
            <a:ext cx="895190" cy="9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00" kern="0" spc="-21" dirty="0">
                <a:solidFill>
                  <a:srgbClr val="000000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User Query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75131" y="1585813"/>
            <a:ext cx="587102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Query 2 — Fuzzy Matching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5131" y="1879005"/>
            <a:ext cx="5261439" cy="11460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12060" y="2039739"/>
            <a:ext cx="4863780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Input Query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12060" y="2354163"/>
            <a:ext cx="4863780" cy="51018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9" name="Text 15"/>
          <p:cNvSpPr/>
          <p:nvPr/>
        </p:nvSpPr>
        <p:spPr>
          <a:xfrm>
            <a:off x="6682116" y="2495848"/>
            <a:ext cx="45236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"Pythn"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5131" y="3131344"/>
            <a:ext cx="5261439" cy="12179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12060" y="3292078"/>
            <a:ext cx="4863780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Fuzzy Match Process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512060" y="3593207"/>
            <a:ext cx="4863780" cy="595313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 Distance computed: </a:t>
            </a:r>
            <a:r>
              <a:rPr lang="en-US" sz="11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</a:t>
            </a:r>
            <a:endParaRPr lang="en-US" sz="1100" dirty="0"/>
          </a:p>
          <a:p>
            <a:pPr marL="223520" indent="-223520" algn="l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Threshold check: within tolerance</a:t>
            </a:r>
            <a:endParaRPr lang="en-US" sz="1100" dirty="0"/>
          </a:p>
          <a:p>
            <a:pPr marL="223520" indent="-223520" algn="l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 skill identified: </a:t>
            </a:r>
            <a:r>
              <a:rPr lang="en-US" sz="110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"Python"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5131" y="4455517"/>
            <a:ext cx="5261439" cy="15997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12060" y="4616252"/>
            <a:ext cx="4863780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Console Output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512060" y="4930676"/>
            <a:ext cx="4863780" cy="963811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26" name="Text 20"/>
          <p:cNvSpPr/>
          <p:nvPr/>
        </p:nvSpPr>
        <p:spPr>
          <a:xfrm>
            <a:off x="6682116" y="5072360"/>
            <a:ext cx="452366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 match found: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 (Edit Distance: 1)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candidate02.txt ✓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16C0BB8-FDFC-0CE3-790F-CA53CC5EF5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475" y="6161484"/>
            <a:ext cx="2191056" cy="638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860649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81930"/>
                </a:lnTo>
                <a:lnTo>
                  <a:pt x="95020" y="85250"/>
                </a:lnTo>
                <a:lnTo>
                  <a:pt x="90920" y="87600"/>
                </a:lnTo>
                <a:lnTo>
                  <a:pt x="88960" y="88480"/>
                </a:lnTo>
                <a:lnTo>
                  <a:pt x="88870" y="88670"/>
                </a:lnTo>
                <a:lnTo>
                  <a:pt x="83400" y="91210"/>
                </a:lnTo>
                <a:lnTo>
                  <a:pt x="76070" y="93950"/>
                </a:lnTo>
                <a:lnTo>
                  <a:pt x="69820" y="95700"/>
                </a:lnTo>
                <a:lnTo>
                  <a:pt x="63480" y="96970"/>
                </a:lnTo>
                <a:lnTo>
                  <a:pt x="57130" y="97750"/>
                </a:lnTo>
                <a:lnTo>
                  <a:pt x="50200" y="98050"/>
                </a:lnTo>
                <a:lnTo>
                  <a:pt x="44240" y="97850"/>
                </a:lnTo>
                <a:lnTo>
                  <a:pt x="38480" y="97270"/>
                </a:lnTo>
                <a:lnTo>
                  <a:pt x="32810" y="96290"/>
                </a:lnTo>
                <a:lnTo>
                  <a:pt x="25200" y="94340"/>
                </a:lnTo>
                <a:lnTo>
                  <a:pt x="19530" y="92380"/>
                </a:lnTo>
                <a:lnTo>
                  <a:pt x="13960" y="90040"/>
                </a:lnTo>
                <a:lnTo>
                  <a:pt x="7320" y="86620"/>
                </a:lnTo>
                <a:lnTo>
                  <a:pt x="290" y="82230"/>
                </a:lnTo>
                <a:lnTo>
                  <a:pt x="0" y="8193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2291854"/>
            <a:ext cx="789464" cy="215305"/>
          </a:xfrm>
          <a:prstGeom prst="roundRect">
            <a:avLst>
              <a:gd name="adj" fmla="val 47407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746503" y="2334320"/>
            <a:ext cx="122899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OUTCOMES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2549624"/>
            <a:ext cx="10868745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kern="0" spc="-84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Expected Outcomes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61475" y="3098899"/>
            <a:ext cx="2637466" cy="819745"/>
          </a:xfrm>
          <a:prstGeom prst="roundRect">
            <a:avLst>
              <a:gd name="adj" fmla="val 15564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803156" y="3240584"/>
            <a:ext cx="23541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Faster Search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3156" y="3499148"/>
            <a:ext cx="2354104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KMP &amp; Aho-Corasick reduce keyword search time significantly over naive approaches.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05202" y="3098899"/>
            <a:ext cx="2637466" cy="819745"/>
          </a:xfrm>
          <a:prstGeom prst="roundRect">
            <a:avLst>
              <a:gd name="adj" fmla="val 15564"/>
            </a:avLst>
          </a:prstGeom>
          <a:solidFill>
            <a:srgbClr val="D4F7F5"/>
          </a:solidFill>
          <a:ln/>
        </p:spPr>
      </p:sp>
      <p:sp>
        <p:nvSpPr>
          <p:cNvPr id="10" name="Text 7"/>
          <p:cNvSpPr/>
          <p:nvPr/>
        </p:nvSpPr>
        <p:spPr>
          <a:xfrm>
            <a:off x="3546882" y="3240584"/>
            <a:ext cx="23541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🔤</a:t>
            </a: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Fuzzy Tolerance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546882" y="3499148"/>
            <a:ext cx="2354104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 Distance handles typos and spelling variations in skill queries.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148928" y="3098899"/>
            <a:ext cx="2637466" cy="819745"/>
          </a:xfrm>
          <a:prstGeom prst="roundRect">
            <a:avLst>
              <a:gd name="adj" fmla="val 15564"/>
            </a:avLst>
          </a:prstGeom>
          <a:solidFill>
            <a:srgbClr val="D4F7F5"/>
          </a:solidFill>
          <a:ln/>
        </p:spPr>
      </p:sp>
      <p:sp>
        <p:nvSpPr>
          <p:cNvPr id="13" name="Text 10"/>
          <p:cNvSpPr/>
          <p:nvPr/>
        </p:nvSpPr>
        <p:spPr>
          <a:xfrm>
            <a:off x="6290609" y="3240584"/>
            <a:ext cx="23541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Similarity Scoring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90609" y="3499148"/>
            <a:ext cx="2354104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Suffix Arrays identify shared content and similarities between multiple resumes.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892655" y="3098899"/>
            <a:ext cx="2637565" cy="819745"/>
          </a:xfrm>
          <a:prstGeom prst="roundRect">
            <a:avLst>
              <a:gd name="adj" fmla="val 15564"/>
            </a:avLst>
          </a:prstGeom>
          <a:solidFill>
            <a:srgbClr val="D4F7F5"/>
          </a:solidFill>
          <a:ln/>
        </p:spPr>
      </p:sp>
      <p:sp>
        <p:nvSpPr>
          <p:cNvPr id="16" name="Text 13"/>
          <p:cNvSpPr/>
          <p:nvPr/>
        </p:nvSpPr>
        <p:spPr>
          <a:xfrm>
            <a:off x="9034336" y="3240584"/>
            <a:ext cx="23542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Optimal Matching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034336" y="3499148"/>
            <a:ext cx="2354204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Bipartite graph matching ensures efficient and fair candidate-job assignment.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61475" y="4980682"/>
            <a:ext cx="4009726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Reduced Manual Effort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61475" y="5239246"/>
            <a:ext cx="4009726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Automates repetitive resume screening tasks.</a:t>
            </a:r>
            <a:endParaRPr lang="en-US" sz="8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662" y="4038203"/>
            <a:ext cx="2282371" cy="228242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820224" y="5002212"/>
            <a:ext cx="354401" cy="354409"/>
          </a:xfrm>
          <a:prstGeom prst="ellipse">
            <a:avLst/>
          </a:prstGeom>
          <a:solidFill>
            <a:srgbClr val="D4F7F5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7654" y="5099645"/>
            <a:ext cx="159441" cy="15944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49653" y="4356894"/>
            <a:ext cx="4080567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Educational Demonstration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449653" y="4615458"/>
            <a:ext cx="4080567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Practical showcase of advanced DSA on a real-world problem.</a:t>
            </a:r>
            <a:endParaRPr lang="en-US" sz="8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662" y="4038203"/>
            <a:ext cx="2282371" cy="228242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67809" y="4050903"/>
            <a:ext cx="354401" cy="354409"/>
          </a:xfrm>
          <a:prstGeom prst="ellipse">
            <a:avLst/>
          </a:prstGeom>
          <a:solidFill>
            <a:srgbClr val="D4F7F5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5240" y="4148336"/>
            <a:ext cx="159441" cy="15944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49653" y="5604371"/>
            <a:ext cx="4080567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Complexity Comparison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449653" y="5862935"/>
            <a:ext cx="4080567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Displays and compares algorithm efficiency in real time.</a:t>
            </a:r>
            <a:endParaRPr lang="en-US" sz="8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4662" y="4038203"/>
            <a:ext cx="2282371" cy="2282428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467809" y="5953423"/>
            <a:ext cx="354401" cy="354409"/>
          </a:xfrm>
          <a:prstGeom prst="ellipse">
            <a:avLst/>
          </a:prstGeom>
          <a:solidFill>
            <a:srgbClr val="D4F7F5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5240" y="6050855"/>
            <a:ext cx="159441" cy="1594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10C7FAA-7F8D-9F86-F9BB-9C730822EC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2481" y="6300455"/>
            <a:ext cx="2429214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672405"/>
            <a:ext cx="1058241" cy="258465"/>
          </a:xfrm>
          <a:prstGeom prst="roundRect">
            <a:avLst>
              <a:gd name="adj" fmla="val 47389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5335355" y="723404"/>
            <a:ext cx="146383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992088"/>
            <a:ext cx="6296860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00" kern="0" spc="-10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488446" y="1861741"/>
            <a:ext cx="604177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"The Resume Search and Candidate Screening System demonstrates how advanced Data Structures and Algorithms can be applied to real-world text-processing and candidate-screening problems."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1689497"/>
            <a:ext cx="19050" cy="1023144"/>
          </a:xfrm>
          <a:prstGeom prst="roundRect">
            <a:avLst>
              <a:gd name="adj" fmla="val 49999"/>
            </a:avLst>
          </a:prstGeom>
          <a:solidFill>
            <a:srgbClr val="28D3C9"/>
          </a:solidFill>
          <a:ln/>
        </p:spPr>
      </p:sp>
      <p:sp>
        <p:nvSpPr>
          <p:cNvPr id="8" name="Shape 5"/>
          <p:cNvSpPr/>
          <p:nvPr/>
        </p:nvSpPr>
        <p:spPr>
          <a:xfrm>
            <a:off x="5233360" y="2884884"/>
            <a:ext cx="6296860" cy="1693466"/>
          </a:xfrm>
          <a:prstGeom prst="roundRect">
            <a:avLst>
              <a:gd name="adj" fmla="val 9041"/>
            </a:avLst>
          </a:prstGeom>
          <a:solidFill>
            <a:srgbClr val="D4F7F5"/>
          </a:solidFill>
          <a:ln/>
        </p:spPr>
      </p:sp>
      <p:sp>
        <p:nvSpPr>
          <p:cNvPr id="9" name="Shape 6"/>
          <p:cNvSpPr/>
          <p:nvPr/>
        </p:nvSpPr>
        <p:spPr>
          <a:xfrm>
            <a:off x="5233360" y="2884884"/>
            <a:ext cx="2098920" cy="846733"/>
          </a:xfrm>
          <a:custGeom>
            <a:avLst/>
            <a:gdLst/>
            <a:ahLst/>
            <a:cxnLst/>
            <a:rect l="l" t="t" r="r" b="b"/>
            <a:pathLst>
              <a:path w="2098920" h="846733">
                <a:moveTo>
                  <a:pt x="127587" y="0"/>
                </a:moveTo>
                <a:lnTo>
                  <a:pt x="2098920" y="0"/>
                </a:lnTo>
                <a:lnTo>
                  <a:pt x="2098920" y="846733"/>
                </a:lnTo>
                <a:lnTo>
                  <a:pt x="0" y="846733"/>
                </a:lnTo>
                <a:lnTo>
                  <a:pt x="0" y="127591"/>
                </a:lnTo>
                <a:arcTo wR="127587" hR="127591" stAng="10800000" swAng="5400000"/>
                <a:close/>
              </a:path>
            </a:pathLst>
          </a:custGeom>
          <a:solidFill>
            <a:srgbClr val="D4F7F5"/>
          </a:solidFill>
          <a:ln/>
        </p:spPr>
      </p:sp>
      <p:sp>
        <p:nvSpPr>
          <p:cNvPr id="10" name="Text 7"/>
          <p:cNvSpPr/>
          <p:nvPr/>
        </p:nvSpPr>
        <p:spPr>
          <a:xfrm>
            <a:off x="5403417" y="3054945"/>
            <a:ext cx="1758807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kern="0" spc="-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50" kern="0" spc="-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Java-Based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403417" y="3380581"/>
            <a:ext cx="17588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Pure Java implementation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32281" y="2884884"/>
            <a:ext cx="2098920" cy="846733"/>
          </a:xfrm>
          <a:prstGeom prst="rect">
            <a:avLst/>
          </a:prstGeom>
          <a:solidFill>
            <a:srgbClr val="D4F7F5"/>
          </a:solidFill>
          <a:ln/>
        </p:spPr>
      </p:sp>
      <p:sp>
        <p:nvSpPr>
          <p:cNvPr id="13" name="Shape 10"/>
          <p:cNvSpPr/>
          <p:nvPr/>
        </p:nvSpPr>
        <p:spPr>
          <a:xfrm>
            <a:off x="7332281" y="2884884"/>
            <a:ext cx="19050" cy="846733"/>
          </a:xfrm>
          <a:prstGeom prst="roundRect">
            <a:avLst>
              <a:gd name="adj" fmla="val 49999"/>
            </a:avLst>
          </a:prstGeom>
          <a:solidFill>
            <a:srgbClr val="BADDDB"/>
          </a:solidFill>
          <a:ln/>
        </p:spPr>
      </p:sp>
      <p:sp>
        <p:nvSpPr>
          <p:cNvPr id="14" name="Text 11"/>
          <p:cNvSpPr/>
          <p:nvPr/>
        </p:nvSpPr>
        <p:spPr>
          <a:xfrm>
            <a:off x="7502337" y="3054945"/>
            <a:ext cx="1758807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kern="0" spc="-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650" kern="0" spc="-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Text-File Input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02337" y="3380581"/>
            <a:ext cx="17588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 .txt resumes only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431201" y="2884884"/>
            <a:ext cx="2099019" cy="846733"/>
          </a:xfrm>
          <a:custGeom>
            <a:avLst/>
            <a:gdLst/>
            <a:ahLst/>
            <a:cxnLst/>
            <a:rect l="l" t="t" r="r" b="b"/>
            <a:pathLst>
              <a:path w="2099019" h="846733">
                <a:moveTo>
                  <a:pt x="0" y="0"/>
                </a:moveTo>
                <a:lnTo>
                  <a:pt x="1971432" y="0"/>
                </a:lnTo>
                <a:arcTo wR="127587" hR="127591" stAng="16200000" swAng="5400000"/>
                <a:lnTo>
                  <a:pt x="2099019" y="846733"/>
                </a:lnTo>
                <a:lnTo>
                  <a:pt x="0" y="846733"/>
                </a:lnTo>
                <a:lnTo>
                  <a:pt x="0" y="0"/>
                </a:lnTo>
                <a:close/>
              </a:path>
            </a:pathLst>
          </a:custGeom>
          <a:solidFill>
            <a:srgbClr val="D4F7F5"/>
          </a:solidFill>
          <a:ln/>
        </p:spPr>
      </p:sp>
      <p:sp>
        <p:nvSpPr>
          <p:cNvPr id="17" name="Shape 14"/>
          <p:cNvSpPr/>
          <p:nvPr/>
        </p:nvSpPr>
        <p:spPr>
          <a:xfrm>
            <a:off x="9431201" y="2884884"/>
            <a:ext cx="19050" cy="846733"/>
          </a:xfrm>
          <a:prstGeom prst="roundRect">
            <a:avLst>
              <a:gd name="adj" fmla="val 49999"/>
            </a:avLst>
          </a:prstGeom>
          <a:solidFill>
            <a:srgbClr val="BADDDB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57" y="3054945"/>
            <a:ext cx="1758906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kern="0" spc="-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r>
              <a:rPr lang="en-US" sz="1650" kern="0" spc="-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Console App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601257" y="3380581"/>
            <a:ext cx="175890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database or web stack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233360" y="3731617"/>
            <a:ext cx="6296860" cy="846733"/>
          </a:xfrm>
          <a:custGeom>
            <a:avLst/>
            <a:gdLst/>
            <a:ahLst/>
            <a:cxnLst/>
            <a:rect l="l" t="t" r="r" b="b"/>
            <a:pathLst>
              <a:path w="6296860" h="846733">
                <a:moveTo>
                  <a:pt x="0" y="0"/>
                </a:moveTo>
                <a:lnTo>
                  <a:pt x="6296860" y="0"/>
                </a:lnTo>
                <a:lnTo>
                  <a:pt x="6296860" y="719142"/>
                </a:lnTo>
                <a:arcTo wR="127587" hR="127591" stAng="0" swAng="5400000"/>
                <a:lnTo>
                  <a:pt x="127587" y="846733"/>
                </a:lnTo>
                <a:arcTo wR="127587" hR="127591" stAng="5400000" swAng="5400000"/>
                <a:lnTo>
                  <a:pt x="0" y="0"/>
                </a:lnTo>
                <a:close/>
              </a:path>
            </a:pathLst>
          </a:custGeom>
          <a:solidFill>
            <a:srgbClr val="D4F7F5"/>
          </a:solidFill>
          <a:ln/>
        </p:spPr>
      </p:sp>
      <p:sp>
        <p:nvSpPr>
          <p:cNvPr id="21" name="Shape 18"/>
          <p:cNvSpPr/>
          <p:nvPr/>
        </p:nvSpPr>
        <p:spPr>
          <a:xfrm>
            <a:off x="5233360" y="3731617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BADDDB"/>
          </a:solidFill>
          <a:ln/>
        </p:spPr>
      </p:sp>
      <p:sp>
        <p:nvSpPr>
          <p:cNvPr id="22" name="Text 19"/>
          <p:cNvSpPr/>
          <p:nvPr/>
        </p:nvSpPr>
        <p:spPr>
          <a:xfrm>
            <a:off x="5403417" y="3901678"/>
            <a:ext cx="5956746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kern="0" spc="-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1650" kern="0" spc="-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Algorithm-Focused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5403417" y="4227314"/>
            <a:ext cx="59567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KMP, Fuzzy, Bipartite &amp; more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33360" y="4793059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233360" y="5084167"/>
            <a:ext cx="6296860" cy="64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4600" kern="0" spc="-139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6" name="Text 23"/>
          <p:cNvSpPr/>
          <p:nvPr/>
        </p:nvSpPr>
        <p:spPr>
          <a:xfrm>
            <a:off x="4928568" y="5959277"/>
            <a:ext cx="690644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1300" i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 are welcome!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5C5D86-0548-9BC0-B650-AD029AEDB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883" y="6320404"/>
            <a:ext cx="2429214" cy="533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764</Words>
  <Application>Microsoft Office PowerPoint</Application>
  <PresentationFormat>Widescreen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Manrope</vt:lpstr>
      <vt:lpstr>Manrope Bold</vt:lpstr>
      <vt:lpstr>Consolas</vt:lpstr>
      <vt:lpstr>Twemoji Mozilla</vt:lpstr>
      <vt:lpstr>DM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arikatla srinivasachari</dc:creator>
  <cp:lastModifiedBy>arikatla srinivasachari</cp:lastModifiedBy>
  <cp:revision>2</cp:revision>
  <dcterms:created xsi:type="dcterms:W3CDTF">2026-08-13T09:17:19Z</dcterms:created>
  <dcterms:modified xsi:type="dcterms:W3CDTF">2026-08-13T09:50:54Z</dcterms:modified>
</cp:coreProperties>
</file>