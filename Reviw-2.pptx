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solidFill>
                  <a:srgbClr val="FF0000"/>
                </a:solidFill>
              </a:rPr>
              <a:t>Resume Search and Candidate Screening System</a:t>
            </a:r>
            <a:endParaRPr lang="en-US" sz="4000" b="1" dirty="0">
              <a:solidFill>
                <a:srgbClr val="FF0000"/>
              </a:solidFill>
              <a:latin typeface="+mn-lt"/>
            </a:endParaRPr>
          </a:p>
        </p:txBody>
      </p:sp>
      <p:sp>
        <p:nvSpPr>
          <p:cNvPr id="3" name="Subtitle 2"/>
          <p:cNvSpPr>
            <a:spLocks noGrp="1"/>
          </p:cNvSpPr>
          <p:nvPr>
            <p:ph type="subTitle" idx="1"/>
          </p:nvPr>
        </p:nvSpPr>
        <p:spPr>
          <a:xfrm>
            <a:off x="90434" y="3513523"/>
            <a:ext cx="12101565" cy="2696357"/>
          </a:xfrm>
        </p:spPr>
        <p:txBody>
          <a:bodyPr/>
          <a:lstStyle/>
          <a:p>
            <a:pPr marL="171450">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LINGALA ASHMITHA REDDY                               2520030061</a:t>
            </a:r>
          </a:p>
          <a:p>
            <a:pPr marL="171450">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ARIKATLA NAGAJYOTHI                                        2520030208</a:t>
            </a:r>
          </a:p>
          <a:p>
            <a:pPr marL="171450">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KONDAMUDI HARIKA                                               </a:t>
            </a: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2520030397</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dirty="0"/>
              <a:t>Dr. </a:t>
            </a:r>
            <a:r>
              <a:rPr lang="en-IN" dirty="0" err="1"/>
              <a:t>V.Sireesha</a:t>
            </a: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FC40D2F6-6926-F213-000A-963A76FA873E}"/>
              </a:ext>
            </a:extLst>
          </p:cNvPr>
          <p:cNvSpPr txBox="1"/>
          <p:nvPr/>
        </p:nvSpPr>
        <p:spPr>
          <a:xfrm>
            <a:off x="733530" y="1256041"/>
            <a:ext cx="11043139" cy="5262979"/>
          </a:xfrm>
          <a:prstGeom prst="rect">
            <a:avLst/>
          </a:prstGeom>
          <a:noFill/>
        </p:spPr>
        <p:txBody>
          <a:bodyPr wrap="square" rtlCol="0">
            <a:spAutoFit/>
          </a:bodyPr>
          <a:lstStyle/>
          <a:p>
            <a:pPr lvl="0"/>
            <a:r>
              <a:rPr lang="en-IN" sz="2800" dirty="0"/>
              <a:t>The </a:t>
            </a:r>
            <a:r>
              <a:rPr lang="en-IN" sz="2800" b="1" dirty="0"/>
              <a:t>Resume Search and Candidate Screening System</a:t>
            </a:r>
            <a:r>
              <a:rPr lang="en-IN" sz="2800" dirty="0"/>
              <a:t> is designed to simplify and improve the process of identifying suitable candidates from a collection of resumes. In traditional recruitment, recruiters often need to manually screen a large number of resumes, which can be time-consuming and inefficient. Our system searches and </a:t>
            </a:r>
            <a:r>
              <a:rPr lang="en-IN" sz="2800" dirty="0" err="1"/>
              <a:t>analyzes</a:t>
            </a:r>
            <a:r>
              <a:rPr lang="en-IN" sz="2800" dirty="0"/>
              <a:t> resumes based on the skills and requirements provided for a particular job role. Pattern matching is used to identify exact required skills and keywords present in resumes, while fuzzy search helps detect approximate matches and spelling variations. A similarity algorithm is then used to measure the relevance between the job requirements and the resume content. Based on the obtained scores, candidates can be ranked according to their relevance, helping recruiters identify suitable candidates more efficiently.</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7E7169FC-A14A-70D8-CEB6-AA73CC3B895B}"/>
              </a:ext>
            </a:extLst>
          </p:cNvPr>
          <p:cNvSpPr txBox="1"/>
          <p:nvPr/>
        </p:nvSpPr>
        <p:spPr>
          <a:xfrm>
            <a:off x="170821" y="1527348"/>
            <a:ext cx="11465169" cy="4524315"/>
          </a:xfrm>
          <a:prstGeom prst="rect">
            <a:avLst/>
          </a:prstGeom>
          <a:noFill/>
        </p:spPr>
        <p:txBody>
          <a:bodyPr wrap="square" rtlCol="0">
            <a:spAutoFit/>
          </a:bodyPr>
          <a:lstStyle/>
          <a:p>
            <a:r>
              <a:rPr lang="en-IN" sz="2400" dirty="0"/>
              <a:t>The recruitment process often involves reviewing a large number of resumes to identify candidates who best match a particular job role. Manual resume screening can be time-consuming and may lead to inconsistent results, especially when recruiters need to compare candidates based on multiple skills and requirements.</a:t>
            </a:r>
          </a:p>
          <a:p>
            <a:r>
              <a:rPr lang="en-IN" sz="2400" dirty="0"/>
              <a:t>The Resume Search and Candidate Screening System aims to provide an efficient approach for searching and </a:t>
            </a:r>
            <a:r>
              <a:rPr lang="en-IN" sz="2400" dirty="0" err="1"/>
              <a:t>analyzing</a:t>
            </a:r>
            <a:r>
              <a:rPr lang="en-IN" sz="2400" dirty="0"/>
              <a:t> resumes based on specified job requirements. The system examines resume content to identify relevant skills and keywords using pattern matching. It also uses fuzzy search to handle spelling mistakes and approximate matches that may not be detected through exact keyword searching.</a:t>
            </a:r>
          </a:p>
          <a:p>
            <a:r>
              <a:rPr lang="en-IN" sz="2400" dirty="0"/>
              <a:t>Furthermore, a similarity algorithm is used to determine how closely a candidate's resume matches the given job requirements. The resulting scores can be used to rank candidates according to their relevance, making the screening process faster and more systematic.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5" name="Table 4">
            <a:extLst>
              <a:ext uri="{FF2B5EF4-FFF2-40B4-BE49-F238E27FC236}">
                <a16:creationId xmlns:a16="http://schemas.microsoft.com/office/drawing/2014/main" id="{4128A4E2-FA27-56EA-FA91-8663FBECB334}"/>
              </a:ext>
            </a:extLst>
          </p:cNvPr>
          <p:cNvGraphicFramePr>
            <a:graphicFrameLocks noGrp="1"/>
          </p:cNvGraphicFramePr>
          <p:nvPr>
            <p:extLst>
              <p:ext uri="{D42A27DB-BD31-4B8C-83A1-F6EECF244321}">
                <p14:modId xmlns:p14="http://schemas.microsoft.com/office/powerpoint/2010/main" val="233374649"/>
              </p:ext>
            </p:extLst>
          </p:nvPr>
        </p:nvGraphicFramePr>
        <p:xfrm>
          <a:off x="1014883" y="1547446"/>
          <a:ext cx="10259367" cy="4762921"/>
        </p:xfrm>
        <a:graphic>
          <a:graphicData uri="http://schemas.openxmlformats.org/drawingml/2006/table">
            <a:tbl>
              <a:tblPr>
                <a:tableStyleId>{5C22544A-7EE6-4342-B048-85BDC9FD1C3A}</a:tableStyleId>
              </a:tblPr>
              <a:tblGrid>
                <a:gridCol w="3419789">
                  <a:extLst>
                    <a:ext uri="{9D8B030D-6E8A-4147-A177-3AD203B41FA5}">
                      <a16:colId xmlns:a16="http://schemas.microsoft.com/office/drawing/2014/main" val="2916288968"/>
                    </a:ext>
                  </a:extLst>
                </a:gridCol>
                <a:gridCol w="3419789">
                  <a:extLst>
                    <a:ext uri="{9D8B030D-6E8A-4147-A177-3AD203B41FA5}">
                      <a16:colId xmlns:a16="http://schemas.microsoft.com/office/drawing/2014/main" val="488199818"/>
                    </a:ext>
                  </a:extLst>
                </a:gridCol>
                <a:gridCol w="3419789">
                  <a:extLst>
                    <a:ext uri="{9D8B030D-6E8A-4147-A177-3AD203B41FA5}">
                      <a16:colId xmlns:a16="http://schemas.microsoft.com/office/drawing/2014/main" val="3644541852"/>
                    </a:ext>
                  </a:extLst>
                </a:gridCol>
              </a:tblGrid>
              <a:tr h="372966">
                <a:tc>
                  <a:txBody>
                    <a:bodyPr/>
                    <a:lstStyle/>
                    <a:p>
                      <a:pPr>
                        <a:buNone/>
                      </a:pPr>
                      <a:r>
                        <a:rPr lang="en-IN" sz="1700"/>
                        <a:t>Existing Approach</a:t>
                      </a:r>
                    </a:p>
                  </a:txBody>
                  <a:tcPr marL="85320" marR="85320" marT="42660" marB="42660" anchor="ctr"/>
                </a:tc>
                <a:tc>
                  <a:txBody>
                    <a:bodyPr/>
                    <a:lstStyle/>
                    <a:p>
                      <a:pPr>
                        <a:buNone/>
                      </a:pPr>
                      <a:r>
                        <a:rPr lang="en-IN" sz="1700"/>
                        <a:t>Description</a:t>
                      </a:r>
                    </a:p>
                  </a:txBody>
                  <a:tcPr marL="85320" marR="85320" marT="42660" marB="42660" anchor="ctr"/>
                </a:tc>
                <a:tc>
                  <a:txBody>
                    <a:bodyPr/>
                    <a:lstStyle/>
                    <a:p>
                      <a:pPr>
                        <a:buNone/>
                      </a:pPr>
                      <a:r>
                        <a:rPr lang="en-IN" sz="1700"/>
                        <a:t>Limitation</a:t>
                      </a:r>
                    </a:p>
                  </a:txBody>
                  <a:tcPr marL="85320" marR="85320" marT="42660" marB="42660" anchor="ctr"/>
                </a:tc>
                <a:extLst>
                  <a:ext uri="{0D108BD9-81ED-4DB2-BD59-A6C34878D82A}">
                    <a16:rowId xmlns:a16="http://schemas.microsoft.com/office/drawing/2014/main" val="350849831"/>
                  </a:ext>
                </a:extLst>
              </a:tr>
              <a:tr h="934105">
                <a:tc>
                  <a:txBody>
                    <a:bodyPr/>
                    <a:lstStyle/>
                    <a:p>
                      <a:pPr>
                        <a:buNone/>
                      </a:pPr>
                      <a:r>
                        <a:rPr lang="en-IN" sz="1700"/>
                        <a:t>Manual Resume Screening</a:t>
                      </a:r>
                    </a:p>
                  </a:txBody>
                  <a:tcPr marL="85320" marR="85320" marT="42660" marB="42660" anchor="ctr"/>
                </a:tc>
                <a:tc>
                  <a:txBody>
                    <a:bodyPr/>
                    <a:lstStyle/>
                    <a:p>
                      <a:pPr>
                        <a:buNone/>
                      </a:pPr>
                      <a:r>
                        <a:rPr lang="en-IN" sz="1700"/>
                        <a:t>Recruiters manually read and compare resumes with job requirements.</a:t>
                      </a:r>
                    </a:p>
                  </a:txBody>
                  <a:tcPr marL="85320" marR="85320" marT="42660" marB="42660" anchor="ctr"/>
                </a:tc>
                <a:tc>
                  <a:txBody>
                    <a:bodyPr/>
                    <a:lstStyle/>
                    <a:p>
                      <a:pPr>
                        <a:buNone/>
                      </a:pPr>
                      <a:r>
                        <a:rPr lang="en-IN" sz="1700"/>
                        <a:t>Time-consuming and difficult when the number of resumes is large.</a:t>
                      </a:r>
                    </a:p>
                  </a:txBody>
                  <a:tcPr marL="85320" marR="85320" marT="42660" marB="42660" anchor="ctr"/>
                </a:tc>
                <a:extLst>
                  <a:ext uri="{0D108BD9-81ED-4DB2-BD59-A6C34878D82A}">
                    <a16:rowId xmlns:a16="http://schemas.microsoft.com/office/drawing/2014/main" val="4086386619"/>
                  </a:ext>
                </a:extLst>
              </a:tr>
              <a:tr h="934105">
                <a:tc>
                  <a:txBody>
                    <a:bodyPr/>
                    <a:lstStyle/>
                    <a:p>
                      <a:pPr>
                        <a:buNone/>
                      </a:pPr>
                      <a:r>
                        <a:rPr lang="en-IN" sz="1700"/>
                        <a:t>Keyword-Based Search</a:t>
                      </a:r>
                    </a:p>
                  </a:txBody>
                  <a:tcPr marL="85320" marR="85320" marT="42660" marB="42660" anchor="ctr"/>
                </a:tc>
                <a:tc>
                  <a:txBody>
                    <a:bodyPr/>
                    <a:lstStyle/>
                    <a:p>
                      <a:pPr>
                        <a:buNone/>
                      </a:pPr>
                      <a:r>
                        <a:rPr lang="en-IN" sz="1700"/>
                        <a:t>Searches resumes for specific skills and keywords.</a:t>
                      </a:r>
                    </a:p>
                  </a:txBody>
                  <a:tcPr marL="85320" marR="85320" marT="42660" marB="42660" anchor="ctr"/>
                </a:tc>
                <a:tc>
                  <a:txBody>
                    <a:bodyPr/>
                    <a:lstStyle/>
                    <a:p>
                      <a:pPr>
                        <a:buNone/>
                      </a:pPr>
                      <a:r>
                        <a:rPr lang="en-IN" sz="1700"/>
                        <a:t>May miss relevant candidates when different terms or spelling variations are used.</a:t>
                      </a:r>
                    </a:p>
                  </a:txBody>
                  <a:tcPr marL="85320" marR="85320" marT="42660" marB="42660" anchor="ctr"/>
                </a:tc>
                <a:extLst>
                  <a:ext uri="{0D108BD9-81ED-4DB2-BD59-A6C34878D82A}">
                    <a16:rowId xmlns:a16="http://schemas.microsoft.com/office/drawing/2014/main" val="3752936402"/>
                  </a:ext>
                </a:extLst>
              </a:tr>
              <a:tr h="653535">
                <a:tc>
                  <a:txBody>
                    <a:bodyPr/>
                    <a:lstStyle/>
                    <a:p>
                      <a:pPr>
                        <a:buNone/>
                      </a:pPr>
                      <a:r>
                        <a:rPr lang="en-IN" sz="1700"/>
                        <a:t>Pattern Matching</a:t>
                      </a:r>
                    </a:p>
                  </a:txBody>
                  <a:tcPr marL="85320" marR="85320" marT="42660" marB="42660" anchor="ctr"/>
                </a:tc>
                <a:tc>
                  <a:txBody>
                    <a:bodyPr/>
                    <a:lstStyle/>
                    <a:p>
                      <a:pPr>
                        <a:buNone/>
                      </a:pPr>
                      <a:r>
                        <a:rPr lang="en-IN" sz="1700"/>
                        <a:t>Identifies exact skills or keywords in resume text.</a:t>
                      </a:r>
                    </a:p>
                  </a:txBody>
                  <a:tcPr marL="85320" marR="85320" marT="42660" marB="42660" anchor="ctr"/>
                </a:tc>
                <a:tc>
                  <a:txBody>
                    <a:bodyPr/>
                    <a:lstStyle/>
                    <a:p>
                      <a:pPr>
                        <a:buNone/>
                      </a:pPr>
                      <a:r>
                        <a:rPr lang="en-IN" sz="1700"/>
                        <a:t>Exact matching may not handle spelling mistakes or similar terms.</a:t>
                      </a:r>
                    </a:p>
                  </a:txBody>
                  <a:tcPr marL="85320" marR="85320" marT="42660" marB="42660" anchor="ctr"/>
                </a:tc>
                <a:extLst>
                  <a:ext uri="{0D108BD9-81ED-4DB2-BD59-A6C34878D82A}">
                    <a16:rowId xmlns:a16="http://schemas.microsoft.com/office/drawing/2014/main" val="3920322883"/>
                  </a:ext>
                </a:extLst>
              </a:tr>
              <a:tr h="934105">
                <a:tc>
                  <a:txBody>
                    <a:bodyPr/>
                    <a:lstStyle/>
                    <a:p>
                      <a:pPr>
                        <a:buNone/>
                      </a:pPr>
                      <a:r>
                        <a:rPr lang="en-IN" sz="1700"/>
                        <a:t>Fuzzy Search</a:t>
                      </a:r>
                    </a:p>
                  </a:txBody>
                  <a:tcPr marL="85320" marR="85320" marT="42660" marB="42660" anchor="ctr"/>
                </a:tc>
                <a:tc>
                  <a:txBody>
                    <a:bodyPr/>
                    <a:lstStyle/>
                    <a:p>
                      <a:pPr>
                        <a:buNone/>
                      </a:pPr>
                      <a:r>
                        <a:rPr lang="en-IN" sz="1700"/>
                        <a:t>Finds approximate matches even when the search term and resume text are slightly different.</a:t>
                      </a:r>
                    </a:p>
                  </a:txBody>
                  <a:tcPr marL="85320" marR="85320" marT="42660" marB="42660" anchor="ctr"/>
                </a:tc>
                <a:tc>
                  <a:txBody>
                    <a:bodyPr/>
                    <a:lstStyle/>
                    <a:p>
                      <a:pPr>
                        <a:buNone/>
                      </a:pPr>
                      <a:r>
                        <a:rPr lang="en-IN" sz="1700"/>
                        <a:t>May require a similarity threshold to avoid irrelevant matches.</a:t>
                      </a:r>
                    </a:p>
                  </a:txBody>
                  <a:tcPr marL="85320" marR="85320" marT="42660" marB="42660" anchor="ctr"/>
                </a:tc>
                <a:extLst>
                  <a:ext uri="{0D108BD9-81ED-4DB2-BD59-A6C34878D82A}">
                    <a16:rowId xmlns:a16="http://schemas.microsoft.com/office/drawing/2014/main" val="2180353540"/>
                  </a:ext>
                </a:extLst>
              </a:tr>
              <a:tr h="934105">
                <a:tc>
                  <a:txBody>
                    <a:bodyPr/>
                    <a:lstStyle/>
                    <a:p>
                      <a:pPr>
                        <a:buNone/>
                      </a:pPr>
                      <a:r>
                        <a:rPr lang="en-IN" sz="1700"/>
                        <a:t>Similarity-Based Screening</a:t>
                      </a:r>
                    </a:p>
                  </a:txBody>
                  <a:tcPr marL="85320" marR="85320" marT="42660" marB="42660" anchor="ctr"/>
                </a:tc>
                <a:tc>
                  <a:txBody>
                    <a:bodyPr/>
                    <a:lstStyle/>
                    <a:p>
                      <a:pPr>
                        <a:buNone/>
                      </a:pPr>
                      <a:r>
                        <a:rPr lang="en-IN" sz="1700"/>
                        <a:t>Measures how closely a resume matches the given job requirements.</a:t>
                      </a:r>
                    </a:p>
                  </a:txBody>
                  <a:tcPr marL="85320" marR="85320" marT="42660" marB="42660" anchor="ctr"/>
                </a:tc>
                <a:tc>
                  <a:txBody>
                    <a:bodyPr/>
                    <a:lstStyle/>
                    <a:p>
                      <a:pPr>
                        <a:buNone/>
                      </a:pPr>
                      <a:r>
                        <a:rPr lang="en-IN" sz="1700" dirty="0"/>
                        <a:t>Accuracy depends on the similarity technique and text representation used.</a:t>
                      </a:r>
                    </a:p>
                  </a:txBody>
                  <a:tcPr marL="85320" marR="85320" marT="42660" marB="42660" anchor="ctr"/>
                </a:tc>
                <a:extLst>
                  <a:ext uri="{0D108BD9-81ED-4DB2-BD59-A6C34878D82A}">
                    <a16:rowId xmlns:a16="http://schemas.microsoft.com/office/drawing/2014/main" val="302625578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D44F41BE-DCF1-8669-FDF1-8A535E69BA7C}"/>
              </a:ext>
            </a:extLst>
          </p:cNvPr>
          <p:cNvSpPr txBox="1"/>
          <p:nvPr/>
        </p:nvSpPr>
        <p:spPr>
          <a:xfrm>
            <a:off x="874206" y="1567543"/>
            <a:ext cx="10510575" cy="4524315"/>
          </a:xfrm>
          <a:prstGeom prst="rect">
            <a:avLst/>
          </a:prstGeom>
          <a:noFill/>
        </p:spPr>
        <p:txBody>
          <a:bodyPr wrap="square" rtlCol="0">
            <a:spAutoFit/>
          </a:bodyPr>
          <a:lstStyle/>
          <a:p>
            <a:r>
              <a:rPr lang="en-IN" sz="2400" b="1" dirty="0"/>
              <a:t>Problem Statement</a:t>
            </a:r>
          </a:p>
          <a:p>
            <a:r>
              <a:rPr lang="en-IN" sz="2400" dirty="0"/>
              <a:t>Recruiters often spend significant time manually screening large numbers of resumes. Traditional keyword-based searching may miss relevant candidates due to spelling variations or differences in how skills are written. Therefore, an efficient system is needed to search resumes and identify candidates based on their relevance to specific job requirements.</a:t>
            </a:r>
          </a:p>
          <a:p>
            <a:r>
              <a:rPr lang="en-IN" sz="2400" b="1" dirty="0"/>
              <a:t>Objectives</a:t>
            </a:r>
          </a:p>
          <a:p>
            <a:pPr lvl="0"/>
            <a:r>
              <a:rPr lang="en-IN" sz="2400" dirty="0"/>
              <a:t>Search resumes based on job requirements and skills. </a:t>
            </a:r>
          </a:p>
          <a:p>
            <a:pPr lvl="0"/>
            <a:r>
              <a:rPr lang="en-IN" sz="2400" dirty="0"/>
              <a:t>Implement pattern matching to identify required skills and keywords. </a:t>
            </a:r>
          </a:p>
          <a:p>
            <a:pPr lvl="0"/>
            <a:r>
              <a:rPr lang="en-IN" sz="2400" dirty="0"/>
              <a:t>Implement fuzzy search to handle spelling variations and approximate matches. </a:t>
            </a:r>
          </a:p>
          <a:p>
            <a:pPr lvl="0"/>
            <a:r>
              <a:rPr lang="en-IN" sz="2400" dirty="0"/>
              <a:t>Calculate similarity between job requirements and resume content. </a:t>
            </a:r>
          </a:p>
          <a:p>
            <a:pPr lvl="0"/>
            <a:r>
              <a:rPr lang="en-IN" sz="2400" dirty="0"/>
              <a:t>Rank candidates based on their relevance scores.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TextBox 3">
            <a:extLst>
              <a:ext uri="{FF2B5EF4-FFF2-40B4-BE49-F238E27FC236}">
                <a16:creationId xmlns:a16="http://schemas.microsoft.com/office/drawing/2014/main" id="{5240AA27-2BEC-9138-07D9-044B1C974EC8}"/>
              </a:ext>
            </a:extLst>
          </p:cNvPr>
          <p:cNvSpPr txBox="1"/>
          <p:nvPr/>
        </p:nvSpPr>
        <p:spPr>
          <a:xfrm>
            <a:off x="3830096" y="839639"/>
            <a:ext cx="3655925" cy="5170646"/>
          </a:xfrm>
          <a:prstGeom prst="rect">
            <a:avLst/>
          </a:prstGeom>
          <a:noFill/>
        </p:spPr>
        <p:txBody>
          <a:bodyPr wrap="square" rtlCol="0">
            <a:spAutoFit/>
          </a:bodyPr>
          <a:lstStyle/>
          <a:p>
            <a:r>
              <a:rPr lang="en-IN" dirty="0"/>
              <a:t> </a:t>
            </a:r>
            <a:r>
              <a:rPr lang="en-IN" sz="1400" dirty="0"/>
              <a:t>START</a:t>
            </a:r>
          </a:p>
          <a:p>
            <a:r>
              <a:rPr lang="en-IN" sz="1400" dirty="0"/>
              <a:t>               ↓</a:t>
            </a:r>
          </a:p>
          <a:p>
            <a:r>
              <a:rPr lang="en-IN" sz="1400" dirty="0"/>
              <a:t>     Enter Job Requirements</a:t>
            </a:r>
          </a:p>
          <a:p>
            <a:r>
              <a:rPr lang="en-IN" sz="1400" dirty="0"/>
              <a:t>               ↓</a:t>
            </a:r>
          </a:p>
          <a:p>
            <a:r>
              <a:rPr lang="en-IN" sz="1400" dirty="0"/>
              <a:t>        Read Resume Files</a:t>
            </a:r>
          </a:p>
          <a:p>
            <a:r>
              <a:rPr lang="en-IN" sz="1400" dirty="0"/>
              <a:t>               ↓</a:t>
            </a:r>
          </a:p>
          <a:p>
            <a:r>
              <a:rPr lang="en-IN" sz="1400" dirty="0"/>
              <a:t>        Extract Resume Text</a:t>
            </a:r>
          </a:p>
          <a:p>
            <a:r>
              <a:rPr lang="en-IN" sz="1400" dirty="0"/>
              <a:t>               ↓</a:t>
            </a:r>
          </a:p>
          <a:p>
            <a:r>
              <a:rPr lang="en-IN" sz="1400" dirty="0"/>
              <a:t>       ┌─────────────────┐</a:t>
            </a:r>
          </a:p>
          <a:p>
            <a:r>
              <a:rPr lang="en-IN" sz="1400" dirty="0"/>
              <a:t>       │ Pattern Matching│</a:t>
            </a:r>
          </a:p>
          <a:p>
            <a:r>
              <a:rPr lang="en-IN" sz="1400" dirty="0"/>
              <a:t>       └─────────────────┘</a:t>
            </a:r>
          </a:p>
          <a:p>
            <a:r>
              <a:rPr lang="en-IN" sz="1400" dirty="0"/>
              <a:t>               ↓</a:t>
            </a:r>
          </a:p>
          <a:p>
            <a:r>
              <a:rPr lang="en-IN" sz="1400" dirty="0"/>
              <a:t>         Fuzzy Search</a:t>
            </a:r>
          </a:p>
          <a:p>
            <a:r>
              <a:rPr lang="en-IN" sz="1400" dirty="0"/>
              <a:t>               ↓</a:t>
            </a:r>
          </a:p>
          <a:p>
            <a:r>
              <a:rPr lang="en-IN" sz="1400" dirty="0"/>
              <a:t>   Similarity Calculation</a:t>
            </a:r>
          </a:p>
          <a:p>
            <a:r>
              <a:rPr lang="en-IN" sz="1400" dirty="0"/>
              <a:t>               ↓</a:t>
            </a:r>
          </a:p>
          <a:p>
            <a:r>
              <a:rPr lang="en-IN" sz="1400" dirty="0"/>
              <a:t>      Calculate Scores</a:t>
            </a:r>
          </a:p>
          <a:p>
            <a:r>
              <a:rPr lang="en-IN" sz="1400" dirty="0"/>
              <a:t>               ↓</a:t>
            </a:r>
          </a:p>
          <a:p>
            <a:r>
              <a:rPr lang="en-IN" sz="1400" dirty="0"/>
              <a:t>      Rank Candidates</a:t>
            </a:r>
          </a:p>
          <a:p>
            <a:r>
              <a:rPr lang="en-IN" sz="1400" dirty="0"/>
              <a:t>               ↓</a:t>
            </a:r>
          </a:p>
          <a:p>
            <a:r>
              <a:rPr lang="en-IN" sz="1400" dirty="0"/>
              <a:t>       Display Results</a:t>
            </a:r>
          </a:p>
          <a:p>
            <a:r>
              <a:rPr lang="en-IN" sz="1400" dirty="0"/>
              <a:t>               ↓</a:t>
            </a:r>
          </a:p>
          <a:p>
            <a:r>
              <a:rPr lang="en-IN" dirty="0"/>
              <a:t>              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5" name="Picture 4">
            <a:extLst>
              <a:ext uri="{FF2B5EF4-FFF2-40B4-BE49-F238E27FC236}">
                <a16:creationId xmlns:a16="http://schemas.microsoft.com/office/drawing/2014/main" id="{336A6528-036B-9A94-01F6-111797810384}"/>
              </a:ext>
            </a:extLst>
          </p:cNvPr>
          <p:cNvPicPr>
            <a:picLocks noChangeAspect="1"/>
          </p:cNvPicPr>
          <p:nvPr/>
        </p:nvPicPr>
        <p:blipFill>
          <a:blip r:embed="rId2"/>
          <a:stretch>
            <a:fillRect/>
          </a:stretch>
        </p:blipFill>
        <p:spPr>
          <a:xfrm>
            <a:off x="0" y="894318"/>
            <a:ext cx="5044877" cy="2491956"/>
          </a:xfrm>
          <a:prstGeom prst="rect">
            <a:avLst/>
          </a:prstGeom>
        </p:spPr>
      </p:pic>
      <p:pic>
        <p:nvPicPr>
          <p:cNvPr id="7" name="Picture 6">
            <a:extLst>
              <a:ext uri="{FF2B5EF4-FFF2-40B4-BE49-F238E27FC236}">
                <a16:creationId xmlns:a16="http://schemas.microsoft.com/office/drawing/2014/main" id="{A0DA2D3B-5972-4001-AA78-B35ABFB45B39}"/>
              </a:ext>
            </a:extLst>
          </p:cNvPr>
          <p:cNvPicPr>
            <a:picLocks noChangeAspect="1"/>
          </p:cNvPicPr>
          <p:nvPr/>
        </p:nvPicPr>
        <p:blipFill>
          <a:blip r:embed="rId3"/>
          <a:stretch>
            <a:fillRect/>
          </a:stretch>
        </p:blipFill>
        <p:spPr>
          <a:xfrm>
            <a:off x="7411427" y="703177"/>
            <a:ext cx="4549534" cy="2758679"/>
          </a:xfrm>
          <a:prstGeom prst="rect">
            <a:avLst/>
          </a:prstGeom>
        </p:spPr>
      </p:pic>
      <p:pic>
        <p:nvPicPr>
          <p:cNvPr id="9" name="Picture 8">
            <a:extLst>
              <a:ext uri="{FF2B5EF4-FFF2-40B4-BE49-F238E27FC236}">
                <a16:creationId xmlns:a16="http://schemas.microsoft.com/office/drawing/2014/main" id="{2FA21EB6-A952-1762-BD24-3065A55B8FD6}"/>
              </a:ext>
            </a:extLst>
          </p:cNvPr>
          <p:cNvPicPr>
            <a:picLocks noChangeAspect="1"/>
          </p:cNvPicPr>
          <p:nvPr/>
        </p:nvPicPr>
        <p:blipFill>
          <a:blip r:embed="rId4"/>
          <a:stretch>
            <a:fillRect/>
          </a:stretch>
        </p:blipFill>
        <p:spPr>
          <a:xfrm>
            <a:off x="6665623" y="3592287"/>
            <a:ext cx="4648603" cy="2834886"/>
          </a:xfrm>
          <a:prstGeom prst="rect">
            <a:avLst/>
          </a:prstGeom>
        </p:spPr>
      </p:pic>
      <p:pic>
        <p:nvPicPr>
          <p:cNvPr id="11" name="Picture 10">
            <a:extLst>
              <a:ext uri="{FF2B5EF4-FFF2-40B4-BE49-F238E27FC236}">
                <a16:creationId xmlns:a16="http://schemas.microsoft.com/office/drawing/2014/main" id="{ADB5A73E-E9CC-56B5-33C9-6C372634359A}"/>
              </a:ext>
            </a:extLst>
          </p:cNvPr>
          <p:cNvPicPr>
            <a:picLocks noChangeAspect="1"/>
          </p:cNvPicPr>
          <p:nvPr/>
        </p:nvPicPr>
        <p:blipFill>
          <a:blip r:embed="rId5"/>
          <a:stretch>
            <a:fillRect/>
          </a:stretch>
        </p:blipFill>
        <p:spPr>
          <a:xfrm>
            <a:off x="877774" y="3735999"/>
            <a:ext cx="5380186" cy="2400508"/>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B7929FE2-FC64-290D-29D2-E7C0FB70E001}"/>
              </a:ext>
            </a:extLst>
          </p:cNvPr>
          <p:cNvSpPr txBox="1"/>
          <p:nvPr/>
        </p:nvSpPr>
        <p:spPr>
          <a:xfrm>
            <a:off x="2160396" y="1313547"/>
            <a:ext cx="7717134" cy="4893647"/>
          </a:xfrm>
          <a:prstGeom prst="rect">
            <a:avLst/>
          </a:prstGeom>
          <a:noFill/>
        </p:spPr>
        <p:txBody>
          <a:bodyPr wrap="square">
            <a:spAutoFit/>
          </a:bodyPr>
          <a:lstStyle/>
          <a:p>
            <a:pPr>
              <a:buNone/>
            </a:pPr>
            <a:r>
              <a:rPr lang="en-IN" b="1" dirty="0"/>
              <a:t>H</a:t>
            </a:r>
            <a:r>
              <a:rPr lang="en-IN" sz="2400" b="1" dirty="0"/>
              <a:t>ardware Requirements</a:t>
            </a:r>
          </a:p>
          <a:p>
            <a:pPr marL="342900" lvl="0" indent="-342900">
              <a:buFont typeface="Arial" panose="020B0604020202020204" pitchFamily="34" charset="0"/>
              <a:buChar char="•"/>
            </a:pPr>
            <a:r>
              <a:rPr lang="en-IN" sz="2400" dirty="0"/>
              <a:t>Laptop / Desktop Computer </a:t>
            </a:r>
          </a:p>
          <a:p>
            <a:pPr marL="342900" lvl="0" indent="-342900">
              <a:buFont typeface="Arial" panose="020B0604020202020204" pitchFamily="34" charset="0"/>
              <a:buChar char="•"/>
            </a:pPr>
            <a:r>
              <a:rPr lang="en-IN" sz="2400" dirty="0"/>
              <a:t>Minimum </a:t>
            </a:r>
            <a:r>
              <a:rPr lang="en-IN" sz="2400" b="1" dirty="0"/>
              <a:t>4 GB RAM</a:t>
            </a:r>
            <a:r>
              <a:rPr lang="en-IN" sz="2400" dirty="0"/>
              <a:t> </a:t>
            </a:r>
          </a:p>
          <a:p>
            <a:pPr marL="342900" lvl="0" indent="-342900">
              <a:buFont typeface="Arial" panose="020B0604020202020204" pitchFamily="34" charset="0"/>
              <a:buChar char="•"/>
            </a:pPr>
            <a:r>
              <a:rPr lang="en-IN" sz="2400" dirty="0"/>
              <a:t>Minimum </a:t>
            </a:r>
            <a:r>
              <a:rPr lang="en-IN" sz="2400" b="1" dirty="0"/>
              <a:t>1 GB free storage</a:t>
            </a:r>
            <a:r>
              <a:rPr lang="en-IN" sz="2400" dirty="0"/>
              <a:t> </a:t>
            </a:r>
          </a:p>
          <a:p>
            <a:pPr marL="342900" lvl="0" indent="-342900">
              <a:buFont typeface="Arial" panose="020B0604020202020204" pitchFamily="34" charset="0"/>
              <a:buChar char="•"/>
            </a:pPr>
            <a:r>
              <a:rPr lang="en-IN" sz="2400" dirty="0"/>
              <a:t>Keyboard and Mouse </a:t>
            </a:r>
          </a:p>
          <a:p>
            <a:pPr>
              <a:buNone/>
            </a:pPr>
            <a:r>
              <a:rPr lang="en-IN" sz="2400" b="1" dirty="0"/>
              <a:t>Software Requirements</a:t>
            </a:r>
          </a:p>
          <a:p>
            <a:pPr marL="342900" lvl="0" indent="-342900">
              <a:buFont typeface="Arial" panose="020B0604020202020204" pitchFamily="34" charset="0"/>
              <a:buChar char="•"/>
            </a:pPr>
            <a:r>
              <a:rPr lang="en-IN" sz="2400" b="1" dirty="0"/>
              <a:t>Operating System:</a:t>
            </a:r>
            <a:r>
              <a:rPr lang="en-IN" sz="2400" dirty="0"/>
              <a:t> Windows / Linux / macOS </a:t>
            </a:r>
          </a:p>
          <a:p>
            <a:pPr marL="342900" lvl="0" indent="-342900">
              <a:buFont typeface="Arial" panose="020B0604020202020204" pitchFamily="34" charset="0"/>
              <a:buChar char="•"/>
            </a:pPr>
            <a:r>
              <a:rPr lang="en-IN" sz="2400" b="1" dirty="0"/>
              <a:t>Programming Language:</a:t>
            </a:r>
            <a:r>
              <a:rPr lang="en-IN" sz="2400" dirty="0"/>
              <a:t> Java </a:t>
            </a:r>
          </a:p>
          <a:p>
            <a:pPr marL="342900" lvl="0" indent="-342900">
              <a:buFont typeface="Arial" panose="020B0604020202020204" pitchFamily="34" charset="0"/>
              <a:buChar char="•"/>
            </a:pPr>
            <a:r>
              <a:rPr lang="en-IN" sz="2400" b="1" dirty="0"/>
              <a:t>JDK:</a:t>
            </a:r>
            <a:r>
              <a:rPr lang="en-IN" sz="2400" dirty="0"/>
              <a:t> JDK 17 or above </a:t>
            </a:r>
          </a:p>
          <a:p>
            <a:pPr marL="342900" lvl="0" indent="-342900">
              <a:buFont typeface="Arial" panose="020B0604020202020204" pitchFamily="34" charset="0"/>
              <a:buChar char="•"/>
            </a:pPr>
            <a:r>
              <a:rPr lang="en-IN" sz="2400" b="1" dirty="0"/>
              <a:t>IDE:</a:t>
            </a:r>
            <a:r>
              <a:rPr lang="en-IN" sz="2400" dirty="0"/>
              <a:t> Visual Studio Code </a:t>
            </a:r>
          </a:p>
          <a:p>
            <a:pPr marL="342900" lvl="0" indent="-342900">
              <a:buFont typeface="Arial" panose="020B0604020202020204" pitchFamily="34" charset="0"/>
              <a:buChar char="•"/>
            </a:pPr>
            <a:r>
              <a:rPr lang="en-IN" sz="2400" b="1" dirty="0"/>
              <a:t>Version Control:</a:t>
            </a:r>
            <a:r>
              <a:rPr lang="en-IN" sz="2400" dirty="0"/>
              <a:t> Git &amp; GitHub </a:t>
            </a:r>
          </a:p>
          <a:p>
            <a:pPr marL="342900" lvl="0" indent="-342900">
              <a:buFont typeface="Arial" panose="020B0604020202020204" pitchFamily="34" charset="0"/>
              <a:buChar char="•"/>
            </a:pPr>
            <a:r>
              <a:rPr lang="en-IN" sz="2400" b="1" dirty="0"/>
              <a:t>Libraries/Concepts:</a:t>
            </a:r>
            <a:r>
              <a:rPr lang="en-IN" sz="2400" dirty="0"/>
              <a:t> Java Collections, Regular Expressions, File Handling</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F732A0D9-2F71-D115-A4F9-AD9C6093D5D3}"/>
              </a:ext>
            </a:extLst>
          </p:cNvPr>
          <p:cNvSpPr txBox="1"/>
          <p:nvPr/>
        </p:nvSpPr>
        <p:spPr>
          <a:xfrm>
            <a:off x="2069960" y="1861852"/>
            <a:ext cx="9003323" cy="3416320"/>
          </a:xfrm>
          <a:prstGeom prst="rect">
            <a:avLst/>
          </a:prstGeom>
          <a:noFill/>
        </p:spPr>
        <p:txBody>
          <a:bodyPr wrap="square">
            <a:spAutoFit/>
          </a:bodyPr>
          <a:lstStyle/>
          <a:p>
            <a:pPr>
              <a:buNone/>
            </a:pPr>
            <a:r>
              <a:rPr lang="en-IN" sz="2400" dirty="0"/>
              <a:t>The Resume Search and Candidate Screening System provides an efficient approach to identifying relevant candidates from resumes. The Review-2 implementation focuses on pattern matching, fuzzy search, and similarity algorithms to compare candidate resumes with job requirements. Pattern matching identifies required skills, fuzzy search handles approximate matches, and similarity calculation measures the relevance of resumes. These results can be used to score and rank candidates, making the resume screening process more systematic and efficient.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7CA89E45-AEB9-250B-149B-660DBC5B5424}"/>
              </a:ext>
            </a:extLst>
          </p:cNvPr>
          <p:cNvSpPr txBox="1"/>
          <p:nvPr/>
        </p:nvSpPr>
        <p:spPr>
          <a:xfrm>
            <a:off x="3017017" y="1149757"/>
            <a:ext cx="6871855" cy="4893647"/>
          </a:xfrm>
          <a:prstGeom prst="rect">
            <a:avLst/>
          </a:prstGeom>
          <a:noFill/>
        </p:spPr>
        <p:txBody>
          <a:bodyPr wrap="square">
            <a:spAutoFit/>
          </a:bodyPr>
          <a:lstStyle/>
          <a:p>
            <a:pPr marL="342900" lvl="0" indent="-342900">
              <a:buFont typeface="Arial" panose="020B0604020202020204" pitchFamily="34" charset="0"/>
              <a:buChar char="•"/>
            </a:pPr>
            <a:r>
              <a:rPr lang="en-IN" sz="2400" dirty="0"/>
              <a:t>Add PDF and Word resume upload. </a:t>
            </a:r>
          </a:p>
          <a:p>
            <a:pPr lvl="0"/>
            <a:endParaRPr lang="en-IN" sz="2400" dirty="0"/>
          </a:p>
          <a:p>
            <a:pPr marL="342900" lvl="0" indent="-342900">
              <a:buFont typeface="Arial" panose="020B0604020202020204" pitchFamily="34" charset="0"/>
              <a:buChar char="•"/>
            </a:pPr>
            <a:r>
              <a:rPr lang="en-IN" sz="2400" dirty="0"/>
              <a:t>Create a mobile or web app for recruiters. </a:t>
            </a:r>
          </a:p>
          <a:p>
            <a:pPr lvl="0"/>
            <a:endParaRPr lang="en-IN" sz="2400" dirty="0"/>
          </a:p>
          <a:p>
            <a:pPr marL="342900" lvl="0" indent="-342900">
              <a:buFont typeface="Arial" panose="020B0604020202020204" pitchFamily="34" charset="0"/>
              <a:buChar char="•"/>
            </a:pPr>
            <a:r>
              <a:rPr lang="en-IN" sz="2400" dirty="0"/>
              <a:t>Store resumes and candidate details in a database.</a:t>
            </a:r>
          </a:p>
          <a:p>
            <a:pPr lvl="0"/>
            <a:endParaRPr lang="en-IN" sz="2400" dirty="0"/>
          </a:p>
          <a:p>
            <a:pPr marL="342900" lvl="0" indent="-342900">
              <a:buFont typeface="Arial" panose="020B0604020202020204" pitchFamily="34" charset="0"/>
              <a:buChar char="•"/>
            </a:pPr>
            <a:r>
              <a:rPr lang="en-IN" sz="2400" dirty="0"/>
              <a:t>Improve the system to understand skills and experience. </a:t>
            </a:r>
          </a:p>
          <a:p>
            <a:pPr lvl="0"/>
            <a:endParaRPr lang="en-IN" sz="2400" dirty="0"/>
          </a:p>
          <a:p>
            <a:pPr marL="342900" lvl="0" indent="-342900">
              <a:buFont typeface="Arial" panose="020B0604020202020204" pitchFamily="34" charset="0"/>
              <a:buChar char="•"/>
            </a:pPr>
            <a:r>
              <a:rPr lang="en-IN" sz="2400" dirty="0"/>
              <a:t>Provide better candidate ranking and filtering. </a:t>
            </a:r>
          </a:p>
          <a:p>
            <a:pPr lvl="0"/>
            <a:endParaRPr lang="en-IN" sz="2400" dirty="0"/>
          </a:p>
          <a:p>
            <a:pPr marL="342900" lvl="0" indent="-342900">
              <a:buFont typeface="Arial" panose="020B0604020202020204" pitchFamily="34" charset="0"/>
              <a:buChar char="•"/>
            </a:pPr>
            <a:r>
              <a:rPr lang="en-IN" sz="2400" dirty="0"/>
              <a:t>Add a recruiter dashboard to manage shortlisted candidates.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850</Words>
  <Application>Microsoft Office PowerPoint</Application>
  <PresentationFormat>Widescreen</PresentationFormat>
  <Paragraphs>102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Resume Search and Candidate Screening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Ashmika Lingala</cp:lastModifiedBy>
  <cp:revision>20</cp:revision>
  <dcterms:created xsi:type="dcterms:W3CDTF">2024-08-29T05:25:00Z</dcterms:created>
  <dcterms:modified xsi:type="dcterms:W3CDTF">2026-08-26T09:42:52Z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